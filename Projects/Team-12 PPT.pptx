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8" r:id="rId1"/>
  </p:sldMasterIdLst>
  <p:notesMasterIdLst>
    <p:notesMasterId r:id="rId14"/>
  </p:notesMasterIdLst>
  <p:sldIdLst>
    <p:sldId id="264" r:id="rId2"/>
    <p:sldId id="265" r:id="rId3"/>
    <p:sldId id="266" r:id="rId4"/>
    <p:sldId id="267" r:id="rId5"/>
    <p:sldId id="268" r:id="rId6"/>
    <p:sldId id="269" r:id="rId7"/>
    <p:sldId id="276" r:id="rId8"/>
    <p:sldId id="277" r:id="rId9"/>
    <p:sldId id="278" r:id="rId10"/>
    <p:sldId id="275" r:id="rId11"/>
    <p:sldId id="27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1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05A8B-6138-4FDD-B258-3E47580EE0D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4ACD8-9371-445C-A835-3D2A8FB9B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65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10/6/2026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9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0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10/6/2026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34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3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916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40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76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47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9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89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14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52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91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73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6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705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3327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37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825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158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22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899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400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83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506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13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9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  <p:sldLayoutId id="2147484132" r:id="rId14"/>
    <p:sldLayoutId id="2147484133" r:id="rId15"/>
    <p:sldLayoutId id="2147484134" r:id="rId16"/>
    <p:sldLayoutId id="2147484135" r:id="rId17"/>
    <p:sldLayoutId id="2147484136" r:id="rId18"/>
    <p:sldLayoutId id="2147484137" r:id="rId19"/>
    <p:sldLayoutId id="2147484138" r:id="rId20"/>
    <p:sldLayoutId id="2147484139" r:id="rId21"/>
    <p:sldLayoutId id="2147484140" r:id="rId22"/>
    <p:sldLayoutId id="2147484141" r:id="rId23"/>
    <p:sldLayoutId id="2147484142" r:id="rId24"/>
    <p:sldLayoutId id="2147484143" r:id="rId25"/>
    <p:sldLayoutId id="2147484144" r:id="rId26"/>
    <p:sldLayoutId id="2147484145" r:id="rId27"/>
    <p:sldLayoutId id="214748414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F696-EE93-E172-5926-64CB0433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EF987-7297-A6B9-3764-4D9748B1BE21}"/>
              </a:ext>
            </a:extLst>
          </p:cNvPr>
          <p:cNvSpPr txBox="1"/>
          <p:nvPr/>
        </p:nvSpPr>
        <p:spPr>
          <a:xfrm>
            <a:off x="74579" y="719846"/>
            <a:ext cx="120428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BOOK MANAGEMENT USING BINARY SEARCH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644A7-124E-86C1-3AC8-AD43FD50AE07}"/>
              </a:ext>
            </a:extLst>
          </p:cNvPr>
          <p:cNvSpPr txBox="1"/>
          <p:nvPr/>
        </p:nvSpPr>
        <p:spPr>
          <a:xfrm>
            <a:off x="1264596" y="3774332"/>
            <a:ext cx="96498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TEAM-12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A25126510016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A25126510027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A25126510029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A25126510047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A25126510057</a:t>
            </a:r>
          </a:p>
        </p:txBody>
      </p:sp>
    </p:spTree>
    <p:extLst>
      <p:ext uri="{BB962C8B-B14F-4D97-AF65-F5344CB8AC3E}">
        <p14:creationId xmlns:p14="http://schemas.microsoft.com/office/powerpoint/2010/main" val="427164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8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FB193-E962-CF50-2D59-DC22EC4A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66C7E-D44D-A4CA-3E2A-D9F341D6419A}"/>
              </a:ext>
            </a:extLst>
          </p:cNvPr>
          <p:cNvSpPr txBox="1"/>
          <p:nvPr/>
        </p:nvSpPr>
        <p:spPr>
          <a:xfrm>
            <a:off x="116732" y="0"/>
            <a:ext cx="91415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>
              <a:solidFill>
                <a:schemeClr val="bg1"/>
              </a:solidFill>
            </a:endParaRPr>
          </a:p>
        </p:txBody>
      </p:sp>
      <p:sp useBgFill="1">
        <p:nvSpPr>
          <p:cNvPr id="7" name="TextBox 6">
            <a:extLst>
              <a:ext uri="{FF2B5EF4-FFF2-40B4-BE49-F238E27FC236}">
                <a16:creationId xmlns:a16="http://schemas.microsoft.com/office/drawing/2014/main" id="{CB6288C6-234F-47FF-36B0-61886D26CF88}"/>
              </a:ext>
            </a:extLst>
          </p:cNvPr>
          <p:cNvSpPr txBox="1"/>
          <p:nvPr/>
        </p:nvSpPr>
        <p:spPr>
          <a:xfrm>
            <a:off x="282102" y="1662474"/>
            <a:ext cx="11712102" cy="4832092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 face challenges managing large book collections efficiently.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record keeping is error-prone and time-consuming.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quickly searching and updating book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an automated system to track book availability and status.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fast access to book records for issue and return processes.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 for persistent storage to maintain data across sessions.</a:t>
            </a:r>
          </a:p>
        </p:txBody>
      </p:sp>
    </p:spTree>
    <p:extLst>
      <p:ext uri="{BB962C8B-B14F-4D97-AF65-F5344CB8AC3E}">
        <p14:creationId xmlns:p14="http://schemas.microsoft.com/office/powerpoint/2010/main" val="240112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0CF90-47A2-B705-284D-2F867354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E86A9-8C5B-DB5B-FA68-9BE4F5820E65}"/>
              </a:ext>
            </a:extLst>
          </p:cNvPr>
          <p:cNvSpPr txBox="1"/>
          <p:nvPr/>
        </p:nvSpPr>
        <p:spPr>
          <a:xfrm>
            <a:off x="77821" y="1046083"/>
            <a:ext cx="1085606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book details using a Binary Search Tree.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a book quickly by Book ID.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and delete books without breaking tree order.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all books in sorted order.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 and return books and calculate fine for late return.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and load data using books.txt.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DBC90-975D-8C9E-5E94-41F893D27A00}"/>
              </a:ext>
            </a:extLst>
          </p:cNvPr>
          <p:cNvSpPr txBox="1"/>
          <p:nvPr/>
        </p:nvSpPr>
        <p:spPr>
          <a:xfrm>
            <a:off x="-68094" y="108838"/>
            <a:ext cx="61965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3BAD0-3D85-2156-68A3-F54FDBD6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E38B6D-C54C-2645-BE1F-E52A88B68309}"/>
              </a:ext>
            </a:extLst>
          </p:cNvPr>
          <p:cNvSpPr/>
          <p:nvPr/>
        </p:nvSpPr>
        <p:spPr>
          <a:xfrm>
            <a:off x="0" y="1643974"/>
            <a:ext cx="6585626" cy="4601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F9E9-9F07-C141-092E-FD0588A1E1E9}"/>
              </a:ext>
            </a:extLst>
          </p:cNvPr>
          <p:cNvSpPr txBox="1"/>
          <p:nvPr/>
        </p:nvSpPr>
        <p:spPr>
          <a:xfrm>
            <a:off x="0" y="1665025"/>
            <a:ext cx="6585626" cy="4585871"/>
          </a:xfrm>
          <a:prstGeom prst="rect">
            <a:avLst/>
          </a:prstGeom>
          <a:ln>
            <a:solidFill>
              <a:srgbClr val="301E5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BST with Book ID as the key.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ID goes left, larger goes right.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Search, insert, delete: O(log n) average.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traversal gives sorted output.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Issue, return and fine are built 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0C3F3-8DE1-7AE9-B08F-92D9C3D8D13E}"/>
              </a:ext>
            </a:extLst>
          </p:cNvPr>
          <p:cNvSpPr txBox="1"/>
          <p:nvPr/>
        </p:nvSpPr>
        <p:spPr>
          <a:xfrm>
            <a:off x="89980" y="10158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78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99F6E-F256-7533-6A5B-F4D0CF0E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27E68-EA1A-5321-A311-139BE7351DC3}"/>
              </a:ext>
            </a:extLst>
          </p:cNvPr>
          <p:cNvSpPr txBox="1"/>
          <p:nvPr/>
        </p:nvSpPr>
        <p:spPr>
          <a:xfrm>
            <a:off x="-85118" y="0"/>
            <a:ext cx="119820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and Book Representation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AD795-9175-78FC-5C12-F4D03B668F9F}"/>
              </a:ext>
            </a:extLst>
          </p:cNvPr>
          <p:cNvSpPr/>
          <p:nvPr/>
        </p:nvSpPr>
        <p:spPr>
          <a:xfrm>
            <a:off x="68094" y="982494"/>
            <a:ext cx="6254885" cy="515565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6D619-1179-0554-BEE1-80F75A28D72F}"/>
              </a:ext>
            </a:extLst>
          </p:cNvPr>
          <p:cNvSpPr txBox="1"/>
          <p:nvPr/>
        </p:nvSpPr>
        <p:spPr>
          <a:xfrm>
            <a:off x="0" y="998361"/>
            <a:ext cx="6313251" cy="513986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BST is a binary tree where each node has at most two children.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Rule: Left Subtree &lt; Root &lt; Right Subtree.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Book IDs are rejected by the program.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ID is the key; each node holds the full book record.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50 Data Structures, 30 Java, 70 Python, 20 C Programming, 40 DBMS.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CD22D-1528-1765-0EF5-FA9AFF01E7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87667" y="982494"/>
            <a:ext cx="5604333" cy="5155659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81582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B236-CEF2-2BBB-3786-6166C86E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41A72A-3EFC-7BF2-9341-D44160D93B57}"/>
              </a:ext>
            </a:extLst>
          </p:cNvPr>
          <p:cNvSpPr txBox="1"/>
          <p:nvPr/>
        </p:nvSpPr>
        <p:spPr>
          <a:xfrm>
            <a:off x="0" y="1289953"/>
            <a:ext cx="6819089" cy="4278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the program and load saved books from books.txt.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the menu with 7 options.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choice: add, search, display, issue, return or delete.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the operation on the BST, then return to the menu.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Exit, save all books to books.txt and stop.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70AFF-2FC4-61DF-B22C-C1745F293568}"/>
              </a:ext>
            </a:extLst>
          </p:cNvPr>
          <p:cNvSpPr txBox="1"/>
          <p:nvPr/>
        </p:nvSpPr>
        <p:spPr>
          <a:xfrm>
            <a:off x="0" y="89384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AEAAF8-251B-2566-B1B5-C32557ED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47" y="1289952"/>
            <a:ext cx="4382640" cy="49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4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ABA59EC-45E3-32A9-2FA6-85E4D24A4A86}"/>
              </a:ext>
            </a:extLst>
          </p:cNvPr>
          <p:cNvSpPr/>
          <p:nvPr/>
        </p:nvSpPr>
        <p:spPr>
          <a:xfrm>
            <a:off x="6653719" y="1533404"/>
            <a:ext cx="5398851" cy="453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91440" y="-45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Search Operation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02" y="1438721"/>
            <a:ext cx="6500152" cy="5273040"/>
          </a:xfrm>
          <a:prstGeom prst="roundRect">
            <a:avLst>
              <a:gd name="adj" fmla="val 2162"/>
            </a:avLst>
          </a:prstGeom>
          <a:solidFill>
            <a:schemeClr val="bg2">
              <a:lumMod val="90000"/>
            </a:schemeClr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Insert: compare the new ID with the current node; smaller goes left, larger goes right.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until an empty position is found, then place the node.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duplicate ID prints "Book ID already exists!" and the node is freed.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Search: start at the root; equal means found, NULL means not found.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searching 60 follows 50 → 70 → 60.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7766304" y="1950720"/>
            <a:ext cx="1511808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8112" y="1950720"/>
            <a:ext cx="1511808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010400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6304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034016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6080" y="399288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1984" y="28346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992880"/>
            <a:ext cx="548640" cy="548640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03792" y="167640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59696" y="399288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283464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271504" y="399288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27520" y="536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40 inserted. Dark: search path for 60.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3490" y="14630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Operation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60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No child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is simply removed.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 flipH="1">
            <a:off x="121920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264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8" name="Text 6"/>
          <p:cNvSpPr txBox="1"/>
          <p:nvPr/>
        </p:nvSpPr>
        <p:spPr>
          <a:xfrm>
            <a:off x="184099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9" name="Text 7"/>
          <p:cNvSpPr txBox="1"/>
          <p:nvPr/>
        </p:nvSpPr>
        <p:spPr>
          <a:xfrm>
            <a:off x="269443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leaf removed.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2816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One child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replaces the deleted node.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 flipH="1">
            <a:off x="493776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120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21792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611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17" name="Text 15"/>
          <p:cNvSpPr txBox="1"/>
          <p:nvPr/>
        </p:nvSpPr>
        <p:spPr>
          <a:xfrm>
            <a:off x="598627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67" dirty="0"/>
          </a:p>
        </p:txBody>
      </p:sp>
      <p:sp>
        <p:nvSpPr>
          <p:cNvPr id="18" name="Text 16"/>
          <p:cNvSpPr txBox="1"/>
          <p:nvPr/>
        </p:nvSpPr>
        <p:spPr>
          <a:xfrm>
            <a:off x="641299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60 takes its place.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Two children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inorder successor (smallest ID in the right subtree) into the node, then delete the successor.</a:t>
            </a:r>
            <a:endParaRPr lang="en-US" sz="1867" dirty="0"/>
          </a:p>
        </p:txBody>
      </p:sp>
      <p:sp>
        <p:nvSpPr>
          <p:cNvPr id="21" name="Shape 19"/>
          <p:cNvSpPr/>
          <p:nvPr/>
        </p:nvSpPr>
        <p:spPr>
          <a:xfrm flipH="1">
            <a:off x="865632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993648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6320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2467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26" name="Text 24"/>
          <p:cNvSpPr txBox="1"/>
          <p:nvPr/>
        </p:nvSpPr>
        <p:spPr>
          <a:xfrm>
            <a:off x="927811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27" name="Text 25"/>
          <p:cNvSpPr txBox="1"/>
          <p:nvPr/>
        </p:nvSpPr>
        <p:spPr>
          <a:xfrm>
            <a:off x="970483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67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29" name="Text 27"/>
          <p:cNvSpPr txBox="1"/>
          <p:nvPr/>
        </p:nvSpPr>
        <p:spPr>
          <a:xfrm>
            <a:off x="1055827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67" dirty="0"/>
          </a:p>
        </p:txBody>
      </p:sp>
      <p:sp>
        <p:nvSpPr>
          <p:cNvPr id="30" name="Text 28"/>
          <p:cNvSpPr txBox="1"/>
          <p:nvPr/>
        </p:nvSpPr>
        <p:spPr>
          <a:xfrm>
            <a:off x="816864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replaced by 80.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517A51-3889-9DD7-5921-5B2C59D1D822}"/>
              </a:ext>
            </a:extLst>
          </p:cNvPr>
          <p:cNvSpPr/>
          <p:nvPr/>
        </p:nvSpPr>
        <p:spPr>
          <a:xfrm>
            <a:off x="6568959" y="1676400"/>
            <a:ext cx="5418306" cy="35052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609600" y="36576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</a:t>
            </a:r>
            <a:endParaRPr lang="en-US" sz="34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408" y="1828800"/>
            <a:ext cx="6096000" cy="3352800"/>
          </a:xfrm>
          <a:prstGeom prst="roundRect">
            <a:avLst>
              <a:gd name="adj" fmla="val 2909"/>
            </a:avLst>
          </a:prstGeom>
          <a:solidFill>
            <a:schemeClr val="accent2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Traversal means visiting every node of the tree.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 (Left → Root → Right) is used to display books.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prints Book IDs in sorted order.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Code: inorder(left), print node, inorder(right).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7766304" y="1950720"/>
            <a:ext cx="1511808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8112" y="1950720"/>
            <a:ext cx="1511808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010400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6304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034016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6080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1984" y="271272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03792" y="167640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59696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271272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271504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3024" y="5486400"/>
            <a:ext cx="10972800" cy="731520"/>
          </a:xfrm>
          <a:prstGeom prst="roundRect">
            <a:avLst>
              <a:gd name="adj" fmla="val 13333"/>
            </a:avLst>
          </a:prstGeom>
          <a:solidFill>
            <a:srgbClr val="E3ECF7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ctr"/>
          <a:lstStyle/>
          <a:p>
            <a:pPr algn="ctr">
              <a:spcAft>
                <a:spcPts val="800"/>
              </a:spcAft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output:  20 → 30 → 40 → 50 → 60 → 70 → 80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4B4C2-2FD6-FE46-2AF7-597F01F2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5BF4F-9286-DC82-F8E7-93837E14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55" y="948820"/>
            <a:ext cx="3520745" cy="260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82A73-6931-60BA-3320-A7278DE3B43E}"/>
              </a:ext>
            </a:extLst>
          </p:cNvPr>
          <p:cNvSpPr txBox="1"/>
          <p:nvPr/>
        </p:nvSpPr>
        <p:spPr>
          <a:xfrm flipH="1">
            <a:off x="0" y="179270"/>
            <a:ext cx="70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C538EC-230F-85C8-A9B6-B564F76D7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561" y="611034"/>
            <a:ext cx="3505504" cy="3063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AD6B9-86AD-2808-D77F-27AF7E107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873" y="948820"/>
            <a:ext cx="3558848" cy="2598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B84A50-9827-F72A-7FFD-2DAAB9476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25" y="3760114"/>
            <a:ext cx="3749365" cy="3063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02D65B-94DD-C3AA-584F-7409BF74B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524" y="3832598"/>
            <a:ext cx="3596952" cy="30254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F6E1C6-5F4E-E9F1-5DBA-92CA5AB0C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873" y="3832598"/>
            <a:ext cx="3673158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2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56E8E-6FBF-D513-D09B-FECE4842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5AEB0F-06E2-0198-474C-6431A17FD05F}"/>
              </a:ext>
            </a:extLst>
          </p:cNvPr>
          <p:cNvSpPr/>
          <p:nvPr/>
        </p:nvSpPr>
        <p:spPr>
          <a:xfrm>
            <a:off x="223736" y="1275080"/>
            <a:ext cx="5872264" cy="336501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1A497-753E-42B9-7DB8-7D60A1A101F7}"/>
              </a:ext>
            </a:extLst>
          </p:cNvPr>
          <p:cNvSpPr txBox="1"/>
          <p:nvPr/>
        </p:nvSpPr>
        <p:spPr>
          <a:xfrm>
            <a:off x="223737" y="1275080"/>
            <a:ext cx="58722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>
              <a:buNone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search using BST 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 display with 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traversal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file persistence using text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extension for more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fine calculation for late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138FC-D23D-0C1E-64E5-9735FFA9DC19}"/>
              </a:ext>
            </a:extLst>
          </p:cNvPr>
          <p:cNvSpPr/>
          <p:nvPr/>
        </p:nvSpPr>
        <p:spPr>
          <a:xfrm>
            <a:off x="6702357" y="1275080"/>
            <a:ext cx="5489643" cy="432805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53041-A91A-A3FD-8FF0-79E0722D5885}"/>
              </a:ext>
            </a:extLst>
          </p:cNvPr>
          <p:cNvSpPr txBox="1"/>
          <p:nvPr/>
        </p:nvSpPr>
        <p:spPr>
          <a:xfrm>
            <a:off x="6664256" y="1275080"/>
            <a:ext cx="58722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>
              <a:buNone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BST provides efficient book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supports multiple library operations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handling ensures data persistence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demonstrates data structures usage</a:t>
            </a:r>
          </a:p>
        </p:txBody>
      </p:sp>
    </p:spTree>
    <p:extLst>
      <p:ext uri="{BB962C8B-B14F-4D97-AF65-F5344CB8AC3E}">
        <p14:creationId xmlns:p14="http://schemas.microsoft.com/office/powerpoint/2010/main" val="1622439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93886-8E5D-A3C9-7000-5BAA5A5025FA}"/>
              </a:ext>
            </a:extLst>
          </p:cNvPr>
          <p:cNvSpPr txBox="1"/>
          <p:nvPr/>
        </p:nvSpPr>
        <p:spPr>
          <a:xfrm>
            <a:off x="1245140" y="257783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</a:p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TEAM-12</a:t>
            </a:r>
          </a:p>
        </p:txBody>
      </p:sp>
    </p:spTree>
    <p:extLst>
      <p:ext uri="{BB962C8B-B14F-4D97-AF65-F5344CB8AC3E}">
        <p14:creationId xmlns:p14="http://schemas.microsoft.com/office/powerpoint/2010/main" val="262060450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110</TotalTime>
  <Words>621</Words>
  <Application>Microsoft Office PowerPoint</Application>
  <PresentationFormat>Widescreen</PresentationFormat>
  <Paragraphs>125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roopaasritha86@outlook.com</dc:creator>
  <cp:lastModifiedBy>roopaasritha86@outlook.com</cp:lastModifiedBy>
  <cp:revision>1</cp:revision>
  <dcterms:created xsi:type="dcterms:W3CDTF">2026-10-06T14:32:03Z</dcterms:created>
  <dcterms:modified xsi:type="dcterms:W3CDTF">2026-10-06T16:22:50Z</dcterms:modified>
</cp:coreProperties>
</file>